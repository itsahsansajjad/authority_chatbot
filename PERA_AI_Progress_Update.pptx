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7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5029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PERA AI Assistant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 for Higher Authority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19050">
            <a:solidFill>
              <a:srgbClr val="D4A7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Enforcement &amp; Regulatory Authority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| PERA AI Team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54864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515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an AI-powered chatbot for PERA staff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answers policy questions from 19 official documents in English, Urdu, and Roman Urdu with citation-backed accuracy.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system has reached v3.0.0 with production-grade security, analytics integration, and specialized operational lookups.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is expected to be fully functional within 2 weeks, Insha'Allah.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v3.0.0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228600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0604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Modules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28600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5488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Indexed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228600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2331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03720" y="2926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Modules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041648"/>
            <a:ext cx="201168" cy="20116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058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RAG Engine — Complete</a:t>
            </a:r>
            <a:endParaRPr lang="en-US" sz="11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61688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0584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 (v3.0.0) — Complete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041648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84632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Chat UI — Complete</a:t>
            </a:r>
            <a:endParaRPr lang="en-US" sz="11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361688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84632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Lookups — Active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PERA AI Assistant?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2120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3840480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430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chatbot that lets PERA staff instantly find answers from official documents, operational data, and analytics — without manually searching through hundreds of pages.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Staff Can Do: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English, Urdu, or Roman Urdu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citation-backed answers from 19 indexed PERA documents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real-time challan, inspection, and operational data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voice input for hands-free queries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source documents directly with page references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all queries with full audit trail for compliance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a modern web interface with dark mode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100584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1234440"/>
            <a:ext cx="640080" cy="640080"/>
          </a:xfrm>
          <a:prstGeom prst="ellipse">
            <a:avLst/>
          </a:prstGeom>
          <a:solidFill>
            <a:srgbClr val="F0F4F8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08" y="1344168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03720" y="1143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Documents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03720" y="1463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 Act, Service Rules, HR Manual, Regulations, FAQs, and more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233172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26480" y="2560320"/>
            <a:ext cx="640080" cy="640080"/>
          </a:xfrm>
          <a:prstGeom prst="ellipse">
            <a:avLst/>
          </a:prstGeom>
          <a:solidFill>
            <a:srgbClr val="F0F4F8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670048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0372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Languages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903720" y="2788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Urdu script, and Roman Urdu with abbreviation handling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943600" y="365760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26480" y="3886200"/>
            <a:ext cx="640080" cy="640080"/>
          </a:xfrm>
          <a:prstGeom prst="ellipse">
            <a:avLst/>
          </a:prstGeom>
          <a:solidFill>
            <a:srgbClr val="F0F4F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3995928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0372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903720" y="41148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API Key auth, rate limiting, audit trail, CORS protection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Has Been Built — Core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5603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040" y="1097280"/>
            <a:ext cx="228600" cy="2286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40080" y="1554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document-grounded Q&amp;A pipeline with FAISS vector search, semantic chunking, keyword fallback, and smart context expansion for detailed queries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91840" y="1005840"/>
            <a:ext cx="25603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097280"/>
            <a:ext cx="228600" cy="2286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143000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886200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Pipeline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3474720" y="1554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PDF/DOCX documents (~75MB) ingested with page preservation, table handling, header/footer removal, and automatic re-indexing support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6126480" y="1005840"/>
            <a:ext cx="25603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097280"/>
            <a:ext cx="228600" cy="22860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143000"/>
            <a:ext cx="320040" cy="32004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720840" y="1143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</a:t>
            </a:r>
            <a:endParaRPr lang="en-US" sz="1250" dirty="0"/>
          </a:p>
        </p:txBody>
      </p:sp>
      <p:sp>
        <p:nvSpPr>
          <p:cNvPr id="19" name="Text 11"/>
          <p:cNvSpPr/>
          <p:nvPr/>
        </p:nvSpPr>
        <p:spPr>
          <a:xfrm>
            <a:off x="6309360" y="15544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pipeline: greeting detection, query normalization, abbreviation expansion, Roman Urdu rewriting, intent routing, and grounding verification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457200" y="2971800"/>
            <a:ext cx="25603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6040" y="3063240"/>
            <a:ext cx="228600" cy="228600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108960"/>
            <a:ext cx="320040" cy="32004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051560" y="3108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 (v3.0.0)</a:t>
            </a:r>
            <a:endParaRPr lang="en-US" sz="1250" dirty="0"/>
          </a:p>
        </p:txBody>
      </p:sp>
      <p:sp>
        <p:nvSpPr>
          <p:cNvPr id="24" name="Text 14"/>
          <p:cNvSpPr/>
          <p:nvPr/>
        </p:nvSpPr>
        <p:spPr>
          <a:xfrm>
            <a:off x="640080" y="3520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+ JWT authentication, rate limiting (30/min queries, 5/min transcription), CORS hardening, environment-driven secrets, audit trail with identity tracking</a:t>
            </a:r>
            <a:endParaRPr lang="en-US" sz="1000" dirty="0"/>
          </a:p>
        </p:txBody>
      </p:sp>
      <p:sp>
        <p:nvSpPr>
          <p:cNvPr id="25" name="Shape 15"/>
          <p:cNvSpPr/>
          <p:nvPr/>
        </p:nvSpPr>
        <p:spPr>
          <a:xfrm>
            <a:off x="3291840" y="2971800"/>
            <a:ext cx="25603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0680" y="3063240"/>
            <a:ext cx="228600" cy="228600"/>
          </a:xfrm>
          <a:prstGeom prst="rect">
            <a:avLst/>
          </a:prstGeom>
        </p:spPr>
      </p:pic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0" y="3108960"/>
            <a:ext cx="320040" cy="320040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3886200" y="3108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Database</a:t>
            </a:r>
            <a:endParaRPr lang="en-US" sz="1250" dirty="0"/>
          </a:p>
        </p:txBody>
      </p:sp>
      <p:sp>
        <p:nvSpPr>
          <p:cNvPr id="29" name="Text 17"/>
          <p:cNvSpPr/>
          <p:nvPr/>
        </p:nvSpPr>
        <p:spPr>
          <a:xfrm>
            <a:off x="3474720" y="3520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15 tables, 12+ migrations, geography dimensions (divisions, districts, tehsils), workforce strength, and finance fact tables</a:t>
            </a:r>
            <a:endParaRPr lang="en-US" sz="1000" dirty="0"/>
          </a:p>
        </p:txBody>
      </p:sp>
      <p:sp>
        <p:nvSpPr>
          <p:cNvPr id="30" name="Shape 18"/>
          <p:cNvSpPr/>
          <p:nvPr/>
        </p:nvSpPr>
        <p:spPr>
          <a:xfrm>
            <a:off x="6126480" y="2971800"/>
            <a:ext cx="25603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5320" y="3063240"/>
            <a:ext cx="228600" cy="228600"/>
          </a:xfrm>
          <a:prstGeom prst="rect">
            <a:avLst/>
          </a:prstGeom>
        </p:spPr>
      </p:pic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9360" y="3108960"/>
            <a:ext cx="320040" cy="32004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720840" y="3108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250" dirty="0"/>
          </a:p>
        </p:txBody>
      </p:sp>
      <p:sp>
        <p:nvSpPr>
          <p:cNvPr id="34" name="Text 20"/>
          <p:cNvSpPr/>
          <p:nvPr/>
        </p:nvSpPr>
        <p:spPr>
          <a:xfrm>
            <a:off x="6309360" y="3520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session persistence (Redis &gt; SQLite &gt; Memory), configurable TTL, conversation history for follow-up questions, max 2000 concurrent sessions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Has Been Built — Frontend &amp; Testing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Next.js Chat Interface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Components | ~2,435 Lines of TypeScript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window with markdown rendering &amp; message bubbles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via browser MediaRecorder API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PDF viewer with page-anchor citation links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sidebar with session history &amp; navigation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theme toggle with system detection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indicator &amp; connection health status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chat history via localStorage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screen with suggested prompts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34 Test Modules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5544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settings, auth, session store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layer: chunker, fetcher, registry, validators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DB, migrations, store (18K lines)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citation, context, vocab, division lookups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answerer, retriever, source modes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3063240"/>
            <a:ext cx="39319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3063240"/>
            <a:ext cx="393192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— 8+ Technical Docs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36118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documentation (43K words)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guide &amp; production hardening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ingestion architecture &amp; runbook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DB architecture &amp; data model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Development — Operational Lookups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241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960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being developed — last updated April 8-9, 2026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600200"/>
            <a:ext cx="2560320" cy="5943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Challan Management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143K lines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23774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Location-aware queries (division, district, tehsil)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queries across stations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breakdown: paid, pending, issued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PostgreSQL-backed challan analytics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91840" y="160020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600200"/>
            <a:ext cx="2560320" cy="5943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2"/>
          <p:cNvSpPr/>
          <p:nvPr/>
        </p:nvSpPr>
        <p:spPr>
          <a:xfrm>
            <a:off x="342900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Performance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2900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77K lines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429000" y="23774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Officer-level inspection data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Division/district/tehsil summaries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PCM API integration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inspection records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126480" y="160020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26480" y="1600200"/>
            <a:ext cx="2560320" cy="5943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7"/>
          <p:cNvSpPr/>
          <p:nvPr/>
        </p:nvSpPr>
        <p:spPr>
          <a:xfrm>
            <a:off x="626364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Activities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6364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76K lines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263640" y="23774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Anti-encroachment &amp; price control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Eviction, anti-hoarding tracking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 type classification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Location-aware comparisons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(Python 3.11+)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— async web server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— vector similarity search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 — answer generation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 — voice transcription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text-embedding-3-small — embeddings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analytics (15 tables)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— session &amp; API ingestion storage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optional session backend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— 134+ config settings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API Key — dual authentication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Infrastructure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600200"/>
            <a:ext cx="3474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— React framework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— type-safe frontend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3.4 — utility styling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Hooks — state management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MediaRecorder API — voice capture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— chat persistence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— 34 test modules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rendering — rich answers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theme — system detection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Environment-driven configuration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— Query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43000" y="1005840"/>
            <a:ext cx="411480" cy="4114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1965960" cy="457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00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Voice</a:t>
            </a:r>
            <a:endParaRPr lang="en-US" sz="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874520"/>
            <a:ext cx="182880" cy="182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337560" y="1005840"/>
            <a:ext cx="411480" cy="41148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3" name="Text 10"/>
          <p:cNvSpPr/>
          <p:nvPr/>
        </p:nvSpPr>
        <p:spPr>
          <a:xfrm>
            <a:off x="333756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560320" y="150876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60320" y="1508760"/>
            <a:ext cx="1965960" cy="45720"/>
          </a:xfrm>
          <a:prstGeom prst="rect">
            <a:avLst/>
          </a:prstGeom>
          <a:solidFill>
            <a:srgbClr val="4A6FA5"/>
          </a:solidFill>
          <a:ln/>
        </p:spPr>
      </p:sp>
      <p:sp>
        <p:nvSpPr>
          <p:cNvPr id="16" name="Text 13"/>
          <p:cNvSpPr/>
          <p:nvPr/>
        </p:nvSpPr>
        <p:spPr>
          <a:xfrm>
            <a:off x="2651760" y="1600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651760" y="19202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SmallTalk Detection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74520"/>
            <a:ext cx="182880" cy="1828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532120" y="100584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0" name="Text 16"/>
          <p:cNvSpPr/>
          <p:nvPr/>
        </p:nvSpPr>
        <p:spPr>
          <a:xfrm>
            <a:off x="553212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754880" y="150876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754880" y="1508760"/>
            <a:ext cx="196596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3" name="Text 19"/>
          <p:cNvSpPr/>
          <p:nvPr/>
        </p:nvSpPr>
        <p:spPr>
          <a:xfrm>
            <a:off x="4846320" y="1600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Routing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846320" y="19202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/ Structured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Hybrid</a:t>
            </a:r>
            <a:endParaRPr lang="en-US" sz="9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874520"/>
            <a:ext cx="182880" cy="18288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7726680" y="1005840"/>
            <a:ext cx="411480" cy="411480"/>
          </a:xfrm>
          <a:prstGeom prst="ellipse">
            <a:avLst/>
          </a:prstGeom>
          <a:solidFill>
            <a:srgbClr val="3A9BBF"/>
          </a:solidFill>
          <a:ln/>
        </p:spPr>
      </p:sp>
      <p:sp>
        <p:nvSpPr>
          <p:cNvPr id="27" name="Text 22"/>
          <p:cNvSpPr/>
          <p:nvPr/>
        </p:nvSpPr>
        <p:spPr>
          <a:xfrm>
            <a:off x="772668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949440" y="150876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949440" y="1508760"/>
            <a:ext cx="1965960" cy="45720"/>
          </a:xfrm>
          <a:prstGeom prst="rect">
            <a:avLst/>
          </a:prstGeom>
          <a:solidFill>
            <a:srgbClr val="3A9BBF"/>
          </a:solidFill>
          <a:ln/>
        </p:spPr>
      </p:sp>
      <p:sp>
        <p:nvSpPr>
          <p:cNvPr id="30" name="Text 25"/>
          <p:cNvSpPr/>
          <p:nvPr/>
        </p:nvSpPr>
        <p:spPr>
          <a:xfrm>
            <a:off x="7040880" y="1600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7040880" y="19202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Abbreviations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References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1143000" y="2971800"/>
            <a:ext cx="411480" cy="4114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3" name="Text 28"/>
          <p:cNvSpPr/>
          <p:nvPr/>
        </p:nvSpPr>
        <p:spPr>
          <a:xfrm>
            <a:off x="114300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365760" y="347472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365760" y="3474720"/>
            <a:ext cx="196596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6" name="Text 31"/>
          <p:cNvSpPr/>
          <p:nvPr/>
        </p:nvSpPr>
        <p:spPr>
          <a:xfrm>
            <a:off x="457200" y="3566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457200" y="38862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Semantic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Fallback</a:t>
            </a:r>
            <a:endParaRPr lang="en-US" sz="95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3840480"/>
            <a:ext cx="182880" cy="182880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3337560" y="2971800"/>
            <a:ext cx="411480" cy="411480"/>
          </a:xfrm>
          <a:prstGeom prst="ellipse">
            <a:avLst/>
          </a:prstGeom>
          <a:solidFill>
            <a:srgbClr val="0E7460"/>
          </a:solidFill>
          <a:ln/>
        </p:spPr>
      </p:sp>
      <p:sp>
        <p:nvSpPr>
          <p:cNvPr id="40" name="Text 34"/>
          <p:cNvSpPr/>
          <p:nvPr/>
        </p:nvSpPr>
        <p:spPr>
          <a:xfrm>
            <a:off x="333756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2560320" y="347472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2560320" y="3474720"/>
            <a:ext cx="1965960" cy="45720"/>
          </a:xfrm>
          <a:prstGeom prst="rect">
            <a:avLst/>
          </a:prstGeom>
          <a:solidFill>
            <a:srgbClr val="0E7460"/>
          </a:solidFill>
          <a:ln/>
        </p:spPr>
      </p:sp>
      <p:sp>
        <p:nvSpPr>
          <p:cNvPr id="43" name="Text 37"/>
          <p:cNvSpPr/>
          <p:nvPr/>
        </p:nvSpPr>
        <p:spPr>
          <a:xfrm>
            <a:off x="2651760" y="3566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2651760" y="38862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5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840480"/>
            <a:ext cx="182880" cy="182880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5532120" y="2971800"/>
            <a:ext cx="411480" cy="411480"/>
          </a:xfrm>
          <a:prstGeom prst="ellipse">
            <a:avLst/>
          </a:prstGeom>
          <a:solidFill>
            <a:srgbClr val="D4A72C"/>
          </a:solidFill>
          <a:ln/>
        </p:spPr>
      </p:sp>
      <p:sp>
        <p:nvSpPr>
          <p:cNvPr id="47" name="Text 40"/>
          <p:cNvSpPr/>
          <p:nvPr/>
        </p:nvSpPr>
        <p:spPr>
          <a:xfrm>
            <a:off x="553212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4754880" y="347472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4754880" y="3474720"/>
            <a:ext cx="1965960" cy="45720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50" name="Text 43"/>
          <p:cNvSpPr/>
          <p:nvPr/>
        </p:nvSpPr>
        <p:spPr>
          <a:xfrm>
            <a:off x="4846320" y="3566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</a:t>
            </a:r>
            <a:endParaRPr lang="en-US" sz="1200" dirty="0"/>
          </a:p>
        </p:txBody>
      </p:sp>
      <p:sp>
        <p:nvSpPr>
          <p:cNvPr id="51" name="Text 44"/>
          <p:cNvSpPr/>
          <p:nvPr/>
        </p:nvSpPr>
        <p:spPr>
          <a:xfrm>
            <a:off x="4846320" y="38862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Citation-Backed</a:t>
            </a:r>
            <a:endParaRPr lang="en-US" sz="950" dirty="0"/>
          </a:p>
        </p:txBody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3840480"/>
            <a:ext cx="182880" cy="182880"/>
          </a:xfrm>
          <a:prstGeom prst="rect">
            <a:avLst/>
          </a:prstGeom>
        </p:spPr>
      </p:pic>
      <p:sp>
        <p:nvSpPr>
          <p:cNvPr id="53" name="Shape 45"/>
          <p:cNvSpPr/>
          <p:nvPr/>
        </p:nvSpPr>
        <p:spPr>
          <a:xfrm>
            <a:off x="7726680" y="2971800"/>
            <a:ext cx="411480" cy="4114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54" name="Text 46"/>
          <p:cNvSpPr/>
          <p:nvPr/>
        </p:nvSpPr>
        <p:spPr>
          <a:xfrm>
            <a:off x="7726680" y="2971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5" name="Shape 47"/>
          <p:cNvSpPr/>
          <p:nvPr/>
        </p:nvSpPr>
        <p:spPr>
          <a:xfrm>
            <a:off x="6949440" y="3474720"/>
            <a:ext cx="1965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48"/>
          <p:cNvSpPr/>
          <p:nvPr/>
        </p:nvSpPr>
        <p:spPr>
          <a:xfrm>
            <a:off x="6949440" y="3474720"/>
            <a:ext cx="1965960" cy="457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7" name="Text 49"/>
          <p:cNvSpPr/>
          <p:nvPr/>
        </p:nvSpPr>
        <p:spPr>
          <a:xfrm>
            <a:off x="7040880" y="3566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58" name="Text 50"/>
          <p:cNvSpPr/>
          <p:nvPr/>
        </p:nvSpPr>
        <p:spPr>
          <a:xfrm>
            <a:off x="7040880" y="38862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Sources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Logging</a:t>
            </a:r>
            <a:endParaRPr lang="en-US" sz="950" dirty="0"/>
          </a:p>
        </p:txBody>
      </p:sp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26060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Progress — By the Numbers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25K+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00584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2.4K+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0604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TypeScript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5488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005840"/>
            <a:ext cx="192024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0515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90372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8229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Breakdown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788920"/>
          <a:ext cx="7863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0584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RAG Pipeline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modules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Retriever, answerer, grounding, reranker, router, query rewrite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Ingestion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modules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Registry, extractors, chunker, index manager/store/cache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Ingestion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modules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Config, discovery, registry, fetcher, normalizer, sync manager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Lookups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modules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Dev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Challan, inspection, ops activity — ingest + lookup pairs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modules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DB, models, mappings, store, migrations, admin routes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components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UI, voice input, PDF viewer, sidebar, themes, health check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modules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+ integration tests covering 13 system areas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7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Compliance — v3.0.0 Milestone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1051560"/>
          </a:xfrm>
          <a:prstGeom prst="rect">
            <a:avLst/>
          </a:prstGeom>
          <a:solidFill>
            <a:srgbClr val="1B3A5C">
              <a:alpha val="7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API Key Auth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1508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authentication on all endpoints except health checks. Configurable per environment.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00600" y="1097280"/>
            <a:ext cx="3931920" cy="1051560"/>
          </a:xfrm>
          <a:prstGeom prst="rect">
            <a:avLst/>
          </a:prstGeom>
          <a:solidFill>
            <a:srgbClr val="1B3A5C">
              <a:alpha val="70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716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577840" y="15087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requests/min for queries, 5/min for transcription. Protection against abuse via slowapi.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2331720"/>
            <a:ext cx="3931920" cy="1051560"/>
          </a:xfrm>
          <a:prstGeom prst="rect">
            <a:avLst/>
          </a:prstGeom>
          <a:solidFill>
            <a:srgbClr val="1B3A5C">
              <a:alpha val="70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060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234440" y="2743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query, answer, and evidence chunk logged with auth identity and request ID tracking.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800600" y="2331720"/>
            <a:ext cx="3931920" cy="1051560"/>
          </a:xfrm>
          <a:prstGeom prst="rect">
            <a:avLst/>
          </a:prstGeom>
          <a:solidFill>
            <a:srgbClr val="1B3A5C">
              <a:alpha val="70000"/>
            </a:srgb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60604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7784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&amp; Headers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577840" y="2743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whitelist, X-Frame-Options, CSP headers. Environment-driven configuration.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57200" y="3566160"/>
            <a:ext cx="3931920" cy="1051560"/>
          </a:xfrm>
          <a:prstGeom prst="rect">
            <a:avLst/>
          </a:prstGeom>
          <a:solidFill>
            <a:srgbClr val="1B3A5C">
              <a:alpha val="70000"/>
            </a:srgbClr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4048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234440" y="3977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keys and credentials via environment variables. No hardcoded secrets in codebase.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800600" y="3566160"/>
            <a:ext cx="3931920" cy="1051560"/>
          </a:xfrm>
          <a:prstGeom prst="rect">
            <a:avLst/>
          </a:prstGeom>
          <a:solidFill>
            <a:srgbClr val="1B3A5C">
              <a:alpha val="70000"/>
            </a:srgbClr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840480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77840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Controls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5577840" y="3977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TTL, max 2000 sessions, 10 turns each. Truncatable sensitive fields.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2286000" y="4572000"/>
            <a:ext cx="4572000" cy="365760"/>
          </a:xfrm>
          <a:prstGeom prst="rect">
            <a:avLst/>
          </a:prstGeom>
          <a:solidFill>
            <a:srgbClr val="16A34A">
              <a:alpha val="80000"/>
            </a:srgbClr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8880" y="4636008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788920" y="4572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v3.0.0 Security Milestone — Completed March 19, 2026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&amp; Delivery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0" y="960120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033272"/>
            <a:ext cx="256032" cy="256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54480" y="1161288"/>
            <a:ext cx="17373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320040" y="1508760"/>
            <a:ext cx="19659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1508760"/>
            <a:ext cx="196596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Shape 7"/>
          <p:cNvSpPr/>
          <p:nvPr/>
        </p:nvSpPr>
        <p:spPr>
          <a:xfrm>
            <a:off x="594360" y="1664208"/>
            <a:ext cx="1417320" cy="3200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66420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2057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46888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 &amp; document pipeline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indexing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pipeline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chat interface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v3.0.0 (JWT, rate limiting)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91840" y="96012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3291840" y="960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749040" y="1161288"/>
            <a:ext cx="17373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2514600" y="1508760"/>
            <a:ext cx="19659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14600" y="1508760"/>
            <a:ext cx="196596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6"/>
          <p:cNvSpPr/>
          <p:nvPr/>
        </p:nvSpPr>
        <p:spPr>
          <a:xfrm>
            <a:off x="2788920" y="1664208"/>
            <a:ext cx="1417320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7"/>
          <p:cNvSpPr/>
          <p:nvPr/>
        </p:nvSpPr>
        <p:spPr>
          <a:xfrm>
            <a:off x="2788920" y="166420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651760" y="2057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Lookups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651760" y="246888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Challan management system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performance module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activity queries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analytics integration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data ingestion layer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486400" y="960120"/>
            <a:ext cx="411480" cy="41148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0" y="960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943600" y="1161288"/>
            <a:ext cx="17373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4709160" y="1508760"/>
            <a:ext cx="19659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1508760"/>
            <a:ext cx="196596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8" name="Shape 25"/>
          <p:cNvSpPr/>
          <p:nvPr/>
        </p:nvSpPr>
        <p:spPr>
          <a:xfrm>
            <a:off x="4983480" y="1664208"/>
            <a:ext cx="1417320" cy="3200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9" name="Text 26"/>
          <p:cNvSpPr/>
          <p:nvPr/>
        </p:nvSpPr>
        <p:spPr>
          <a:xfrm>
            <a:off x="4983480" y="166420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846320" y="2057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Deploy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846320" y="246888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refinements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handover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7680960" y="960120"/>
            <a:ext cx="411480" cy="41148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3" name="Text 30"/>
          <p:cNvSpPr/>
          <p:nvPr/>
        </p:nvSpPr>
        <p:spPr>
          <a:xfrm>
            <a:off x="7680960" y="960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903720" y="1508760"/>
            <a:ext cx="19659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903720" y="1508760"/>
            <a:ext cx="1965960" cy="457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6" name="Shape 33"/>
          <p:cNvSpPr/>
          <p:nvPr/>
        </p:nvSpPr>
        <p:spPr>
          <a:xfrm>
            <a:off x="7178040" y="1664208"/>
            <a:ext cx="141732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7" name="Text 34"/>
          <p:cNvSpPr/>
          <p:nvPr/>
        </p:nvSpPr>
        <p:spPr>
          <a:xfrm>
            <a:off x="7178040" y="166420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040880" y="20574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040880" y="246888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 development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API integrations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dashboards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(RBAC)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updates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is expected to be fully functional within 2 weeks, Insha'Allah.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Phase — Feature Expansion &amp; Alert 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initial version is completed, the next phase will focus on expanding features and starting development of the alert system.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00200"/>
            <a:ext cx="3931920" cy="457200"/>
          </a:xfrm>
          <a:prstGeom prst="rect">
            <a:avLst/>
          </a:prstGeom>
          <a:solidFill>
            <a:srgbClr val="2E86A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64208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Expansion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219456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API source integrations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dashboards &amp; reports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design improvements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Multi-department knowledge expansion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 &amp; caching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incorporation loop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160020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600200"/>
            <a:ext cx="3931920" cy="457200"/>
          </a:xfrm>
          <a:prstGeom prst="rect">
            <a:avLst/>
          </a:prstGeom>
          <a:solidFill>
            <a:srgbClr val="D4A72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64208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924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 (New Development)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029200" y="219456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notifications for PERA staff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on policy updates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Challan &amp; inspection status notifications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operational alerts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 infrastructure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alert rules per role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existing chatbot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Achievements So Far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5603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560320" cy="50292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7899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78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RAG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document Q&amp;A system with multi-strategy retrieval, grounding verification, and citation-backed answers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005840"/>
            <a:ext cx="25603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005840"/>
            <a:ext cx="2560320" cy="502920"/>
          </a:xfrm>
          <a:prstGeom prst="rect">
            <a:avLst/>
          </a:prstGeom>
          <a:solidFill>
            <a:srgbClr val="2E86A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07899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078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29000" y="1645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v3.0.0 milestone delivered with JWT auth, rate limiting, CORS hardening, and full audit trail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005840"/>
            <a:ext cx="25603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005840"/>
            <a:ext cx="2560320" cy="50292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7899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1078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Platform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63640" y="1645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15-table PostgreSQL analytics layer with geography dimensions and operational fact tables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2971800"/>
            <a:ext cx="25603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2971800"/>
            <a:ext cx="2560320" cy="502920"/>
          </a:xfrm>
          <a:prstGeom prst="rect">
            <a:avLst/>
          </a:prstGeom>
          <a:solidFill>
            <a:srgbClr val="6D5D2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4495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044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Chat UI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94360" y="36118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20-component Next.js interface with voice input, PDF viewer, dark mode, and session management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91840" y="2971800"/>
            <a:ext cx="25603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2971800"/>
            <a:ext cx="2560320" cy="502920"/>
          </a:xfrm>
          <a:prstGeom prst="rect">
            <a:avLst/>
          </a:prstGeom>
          <a:solidFill>
            <a:srgbClr val="1B3A5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044952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40480" y="3044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Testing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429000" y="36118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test modules covering 13 system areas — core, API, analytics, domain, and integration tests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126480" y="2971800"/>
            <a:ext cx="25603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26480" y="2971800"/>
            <a:ext cx="2560320" cy="50292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04495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75120" y="3044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for Delivery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263640" y="36118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complete, operational lookups actively being developed. 2-week delivery on track, Insha'Allah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7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Track to Deliver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26517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is expected to be fully functional within 2 weeks, Insha'Allah.</a:t>
            </a:r>
            <a:endParaRPr lang="en-US" sz="15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initial version is completed, the next phase will focus on</a:t>
            </a:r>
            <a:endParaRPr lang="en-US" sz="15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its features and starting development of the alert system.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00400" y="3886200"/>
            <a:ext cx="2743200" cy="0"/>
          </a:xfrm>
          <a:prstGeom prst="line">
            <a:avLst/>
          </a:prstGeom>
          <a:noFill/>
          <a:ln w="12700">
            <a:solidFill>
              <a:srgbClr val="D4A7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4A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 AI Assistant | Punjab Enforcement &amp; Regulatory Authority |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PERA AI Assistant - Progress Update</dc:title>
  <dc:subject>PptxGenJS Presentation</dc:subject>
  <dc:creator>PERA AI Team</dc:creator>
  <cp:lastModifiedBy>PERA AI Team</cp:lastModifiedBy>
  <cp:revision>1</cp:revision>
  <dcterms:created xsi:type="dcterms:W3CDTF">2026-04-09T05:52:30Z</dcterms:created>
  <dcterms:modified xsi:type="dcterms:W3CDTF">2026-04-09T05:52:30Z</dcterms:modified>
</cp:coreProperties>
</file>